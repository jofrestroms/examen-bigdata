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ARQUITECTURA DE STREAMING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D2FF"/>
                </a:solidFill>
                <a:latin typeface="Calibri"/>
              </a:defRPr>
            </a:pPr>
            <a:r>
              <a:t>Subasta de Componentes - Duoc UC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B8"/>
                </a:solidFill>
                <a:latin typeface="Calibri"/>
              </a:defRPr>
            </a:pPr>
            <a:r>
              <a:t>EV3 · Informe Técnico · Big Data · Sección 004D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931920"/>
            <a:ext cx="27432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Calibri"/>
              </a:defRPr>
            </a:pPr>
            <a:r>
              <a:t>Cloud Run · Pub/Sub · Dataflow · Cloud Storage · Alteryx · Looker Studio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9728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Índice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828800"/>
            <a:ext cx="457200" cy="4572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905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DD5E0"/>
                </a:solidFill>
                <a:latin typeface="Calibri"/>
              </a:defRPr>
            </a:pPr>
            <a:r>
              <a:t>Resumen Ejecutivo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331720"/>
            <a:ext cx="457200" cy="4572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407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DD5E0"/>
                </a:solidFill>
                <a:latin typeface="Calibri"/>
              </a:defRPr>
            </a:pPr>
            <a:r>
              <a:t>Arquitectura de la Solución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834640"/>
            <a:ext cx="457200" cy="4572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910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DD5E0"/>
                </a:solidFill>
                <a:latin typeface="Calibri"/>
              </a:defRPr>
            </a:pPr>
            <a:r>
              <a:t>Componentes del Pipeline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337560"/>
            <a:ext cx="457200" cy="4572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413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DD5E0"/>
                </a:solidFill>
                <a:latin typeface="Calibri"/>
              </a:defRPr>
            </a:pPr>
            <a:r>
              <a:t>Fundamentos Big Data - Las 5V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840480"/>
            <a:ext cx="457200" cy="4572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16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DD5E0"/>
                </a:solidFill>
                <a:latin typeface="Calibri"/>
              </a:defRPr>
            </a:pPr>
            <a:r>
              <a:t>Implementación del Pipeline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343400"/>
            <a:ext cx="457200" cy="4572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419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DD5E0"/>
                </a:solidFill>
                <a:latin typeface="Calibri"/>
              </a:defRPr>
            </a:pPr>
            <a:r>
              <a:t>Modelo de Datos y Visualización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846320"/>
            <a:ext cx="457200" cy="4572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922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DD5E0"/>
                </a:solidFill>
                <a:latin typeface="Calibri"/>
              </a:defRPr>
            </a:pPr>
            <a:r>
              <a:t>Latencia del Sistema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5349240"/>
            <a:ext cx="457200" cy="4572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425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DD5E0"/>
                </a:solidFill>
                <a:latin typeface="Calibri"/>
              </a:defRPr>
            </a:pPr>
            <a:r>
              <a:t>Conclusiones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9728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Resumen Ejecutivo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8"/>
                </a:solidFill>
                <a:latin typeface="Calibri"/>
              </a:defRPr>
            </a:pPr>
            <a:r>
              <a:t>Visión general del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CDD5E0"/>
                </a:solidFill>
                <a:latin typeface="Calibri"/>
              </a:defRPr>
            </a:pPr>
            <a:r>
              <a:t>Pipeline streaming sobre Google Cloud Platform para la subasta de componentes de Duoc UC</a:t>
            </a:r>
          </a:p>
          <a:p>
            <a:pPr>
              <a:spcAft>
                <a:spcPts val="1000"/>
              </a:spcAft>
              <a:defRPr sz="1700">
                <a:solidFill>
                  <a:srgbClr val="CDD5E0"/>
                </a:solidFill>
                <a:latin typeface="Calibri"/>
              </a:defRPr>
            </a:pPr>
            <a:r>
              <a:t>Eventos de compra/venta se generan de forma continua e impredecible vía webhook</a:t>
            </a:r>
          </a:p>
          <a:p>
            <a:pPr>
              <a:spcAft>
                <a:spcPts val="1000"/>
              </a:spcAft>
              <a:defRPr sz="1700">
                <a:solidFill>
                  <a:srgbClr val="CDD5E0"/>
                </a:solidFill>
                <a:latin typeface="Calibri"/>
              </a:defRPr>
            </a:pPr>
            <a:r>
              <a:t>Cloud Run (Flask) recibe eventos → Pub/Sub desacopla → Dataflow procesa en ventanas de 12s</a:t>
            </a:r>
          </a:p>
          <a:p>
            <a:pPr>
              <a:spcAft>
                <a:spcPts val="1000"/>
              </a:spcAft>
              <a:defRPr sz="1700">
                <a:solidFill>
                  <a:srgbClr val="CDD5E0"/>
                </a:solidFill>
                <a:latin typeface="Calibri"/>
              </a:defRPr>
            </a:pPr>
            <a:r>
              <a:t>Cloud Storage como Data Lake con eliminación automática a 30 días (TTL)</a:t>
            </a:r>
          </a:p>
          <a:p>
            <a:pPr>
              <a:spcAft>
                <a:spcPts val="1000"/>
              </a:spcAft>
              <a:defRPr sz="1700">
                <a:solidFill>
                  <a:srgbClr val="CDD5E0"/>
                </a:solidFill>
                <a:latin typeface="Calibri"/>
              </a:defRPr>
            </a:pPr>
            <a:r>
              <a:t>Alteryx/Dataprep para limpieza y estandarización de datos</a:t>
            </a:r>
          </a:p>
          <a:p>
            <a:pPr>
              <a:spcAft>
                <a:spcPts val="1000"/>
              </a:spcAft>
              <a:defRPr sz="1700">
                <a:solidFill>
                  <a:srgbClr val="CDD5E0"/>
                </a:solidFill>
                <a:latin typeface="Calibri"/>
              </a:defRPr>
            </a:pPr>
            <a:r>
              <a:t>Looker Studio para visualización con indicadores de negocio</a:t>
            </a:r>
          </a:p>
          <a:p>
            <a:pPr>
              <a:spcAft>
                <a:spcPts val="1000"/>
              </a:spcAft>
              <a:defRPr sz="1700">
                <a:solidFill>
                  <a:srgbClr val="CDD5E0"/>
                </a:solidFill>
                <a:latin typeface="Calibri"/>
              </a:defRPr>
            </a:pPr>
            <a:r>
              <a:t>Arquitectura híbrida: ingesta streaming + preparación batch en limpieza final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9728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Arquitectura de la 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8"/>
                </a:solidFill>
                <a:latin typeface="Calibri"/>
              </a:defRPr>
            </a:pPr>
            <a:r>
              <a:t>Flujo de extremo a extremo</a:t>
            </a:r>
          </a:p>
        </p:txBody>
      </p:sp>
      <p:pic>
        <p:nvPicPr>
          <p:cNvPr id="5" name="Picture 4" descr="Arquitectura Streaming - Subasta de Componen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112471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9728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Componentes del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8"/>
                </a:solidFill>
                <a:latin typeface="Calibri"/>
              </a:defRPr>
            </a:pPr>
            <a:r>
              <a:t>7 servicios que conforman la solución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13560"/>
            <a:ext cx="101600" cy="1016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63FF"/>
                </a:solidFill>
                <a:latin typeface="Calibri"/>
              </a:defRPr>
            </a:pPr>
            <a:r>
              <a:t>1. Duoc UC (Webhook)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73736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DD5E0"/>
                </a:solidFill>
                <a:latin typeface="Calibri"/>
              </a:defRPr>
            </a:pPr>
            <a:r>
              <a:t>Sistema origen. Dispara notificaciones HTTP automáticas con datos del evento de subasta.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435352"/>
            <a:ext cx="101600" cy="1016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3591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63FF"/>
                </a:solidFill>
                <a:latin typeface="Calibri"/>
              </a:defRPr>
            </a:pPr>
            <a:r>
              <a:t>2. Cloud 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359152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DD5E0"/>
                </a:solidFill>
                <a:latin typeface="Calibri"/>
              </a:defRPr>
            </a:pPr>
            <a:r>
              <a:t>Microservicio REST en Python/Flask. Recibe el webhook y publica en Pub/Sub con manejo de errores.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057144"/>
            <a:ext cx="101600" cy="1016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98094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63FF"/>
                </a:solidFill>
                <a:latin typeface="Calibri"/>
              </a:defRPr>
            </a:pPr>
            <a:r>
              <a:t>3. Pub/Sub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980944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DD5E0"/>
                </a:solidFill>
                <a:latin typeface="Calibri"/>
              </a:defRPr>
            </a:pPr>
            <a:r>
              <a:t>Bus asíncrono. Tópico TOPIC_VENTAS, suscripción ventas-sub, ack-deadline 60s.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678936"/>
            <a:ext cx="101600" cy="1016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60273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63FF"/>
                </a:solidFill>
                <a:latin typeface="Calibri"/>
              </a:defRPr>
            </a:pPr>
            <a:r>
              <a:t>4. Dataflow (Beam)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602736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DD5E0"/>
                </a:solidFill>
                <a:latin typeface="Calibri"/>
              </a:defRPr>
            </a:pPr>
            <a:r>
              <a:t>Pipeline Java con ventanas fijas de 12s. Escribe CSV a Cloud Storage.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300728"/>
            <a:ext cx="101600" cy="1016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2245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63FF"/>
                </a:solidFill>
                <a:latin typeface="Calibri"/>
              </a:defRPr>
            </a:pPr>
            <a:r>
              <a:t>5. Cloud 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224528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DD5E0"/>
                </a:solidFill>
                <a:latin typeface="Calibri"/>
              </a:defRPr>
            </a:pPr>
            <a:r>
              <a:t>Data Lake con carpetas temp, staging y output. TTL de 30 días.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922520"/>
            <a:ext cx="101600" cy="1016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846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63FF"/>
                </a:solidFill>
                <a:latin typeface="Calibri"/>
              </a:defRPr>
            </a:pPr>
            <a:r>
              <a:t>6. Alteryx/Dataprep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84632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DD5E0"/>
                </a:solidFill>
                <a:latin typeface="Calibri"/>
              </a:defRPr>
            </a:pPr>
            <a:r>
              <a:t>Motor visual de limpieza y transformación sobre datos crudos del Data Lake.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544312"/>
            <a:ext cx="101600" cy="1016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4681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63FF"/>
                </a:solidFill>
                <a:latin typeface="Calibri"/>
              </a:defRPr>
            </a:pPr>
            <a:r>
              <a:t>7. Looker Studio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5468112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DD5E0"/>
                </a:solidFill>
                <a:latin typeface="Calibri"/>
              </a:defRPr>
            </a:pPr>
            <a:r>
              <a:t>Dashboard interactivo con métricas de la subasta.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9728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Fundamentos Big Data - Las 5V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8"/>
                </a:solidFill>
                <a:latin typeface="Calibri"/>
              </a:defRPr>
            </a:pPr>
            <a:r>
              <a:t>Aplicación al caso de subasta de componentes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28800"/>
            <a:ext cx="2148840" cy="4572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2011680"/>
            <a:ext cx="731520" cy="73152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C63FF"/>
                </a:solidFill>
                <a:latin typeface="Calibri"/>
              </a:defRPr>
            </a:pPr>
            <a:r>
              <a:t>Volumen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83280"/>
            <a:ext cx="1965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DD5E0"/>
                </a:solidFill>
                <a:latin typeface="Calibri"/>
              </a:defRPr>
            </a:pPr>
            <a:r>
              <a:t>Eventos continuos que se acumulan. Almacenamiento escalable en Cloud Storage.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80" y="1828800"/>
            <a:ext cx="2148840" cy="4572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383280" y="2011680"/>
            <a:ext cx="731520" cy="73152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92608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  <a:latin typeface="Calibri"/>
              </a:defRPr>
            </a:pPr>
            <a:r>
              <a:t>Velocidad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3383280"/>
            <a:ext cx="1965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DD5E0"/>
                </a:solidFill>
                <a:latin typeface="Calibri"/>
              </a:defRPr>
            </a:pPr>
            <a:r>
              <a:t>Pipeline streaming con ventanas de 12s. Latencia de minutos, no horas.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828800"/>
            <a:ext cx="2148840" cy="4572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715000" y="2011680"/>
            <a:ext cx="731520" cy="73152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92608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6B6B"/>
                </a:solidFill>
                <a:latin typeface="Calibri"/>
              </a:defRPr>
            </a:pPr>
            <a:r>
              <a:t>Variedad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383280"/>
            <a:ext cx="1965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DD5E0"/>
                </a:solidFill>
                <a:latin typeface="Calibri"/>
              </a:defRPr>
            </a:pPr>
            <a:r>
              <a:t>JSON (webhook) → CSV tabular con texto, fechas y valores numéricos.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19" y="1828800"/>
            <a:ext cx="2148840" cy="4572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19" y="2011680"/>
            <a:ext cx="731520" cy="731520"/>
          </a:xfrm>
          <a:prstGeom prst="ellipse">
            <a:avLst/>
          </a:prstGeom>
          <a:solidFill>
            <a:srgbClr val="50E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59" y="292608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50E090"/>
                </a:solidFill>
                <a:latin typeface="Calibri"/>
              </a:defRPr>
            </a:pPr>
            <a:r>
              <a:t>Veracidad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59" y="3383280"/>
            <a:ext cx="1965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DD5E0"/>
                </a:solidFill>
                <a:latin typeface="Calibri"/>
              </a:defRPr>
            </a:pPr>
            <a:r>
              <a:t>10 campos estandarizados. Limpieza con Alteryx/Dataprep antes del dashboard.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0" y="1828800"/>
            <a:ext cx="2148840" cy="4572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378440" y="2011680"/>
            <a:ext cx="731520" cy="731520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292608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93D"/>
                </a:solidFill>
                <a:latin typeface="Calibri"/>
              </a:defRPr>
            </a:pPr>
            <a:r>
              <a:t>Valor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3383280"/>
            <a:ext cx="1965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DD5E0"/>
                </a:solidFill>
                <a:latin typeface="Calibri"/>
              </a:defRPr>
            </a:pPr>
            <a:r>
              <a:t>Indicadores: género, volumen por componente, monto por producto.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9728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Implementación del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8"/>
                </a:solidFill>
                <a:latin typeface="Calibri"/>
              </a:defRPr>
            </a:pPr>
            <a:r>
              <a:t>Configuración de servicios GCP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303520" cy="43891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Pub/Sub + Cloud Run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DD5E0"/>
                </a:solidFill>
                <a:latin typeface="Calibri"/>
              </a:defRPr>
            </a:pPr>
            <a:r>
              <a:t>Tópico: TOPIC_VENTAS</a:t>
            </a:r>
          </a:p>
          <a:p>
            <a:pPr>
              <a:spcAft>
                <a:spcPts val="600"/>
              </a:spcAft>
              <a:defRPr sz="1500">
                <a:solidFill>
                  <a:srgbClr val="CDD5E0"/>
                </a:solidFill>
                <a:latin typeface="Calibri"/>
              </a:defRPr>
            </a:pPr>
            <a:r>
              <a:t>Suscripción: ventas-sub, ack-deadline 60s</a:t>
            </a:r>
          </a:p>
          <a:p>
            <a:pPr>
              <a:spcAft>
                <a:spcPts val="600"/>
              </a:spcAft>
              <a:defRPr sz="1500">
                <a:solidFill>
                  <a:srgbClr val="CDD5E0"/>
                </a:solidFill>
                <a:latin typeface="Calibri"/>
              </a:defRPr>
            </a:pPr>
            <a:r>
              <a:t>Microservicio Flask expone endpoint REST</a:t>
            </a:r>
          </a:p>
          <a:p>
            <a:pPr>
              <a:spcAft>
                <a:spcPts val="600"/>
              </a:spcAft>
              <a:defRPr sz="1500">
                <a:solidFill>
                  <a:srgbClr val="CDD5E0"/>
                </a:solidFill>
                <a:latin typeface="Calibri"/>
              </a:defRPr>
            </a:pPr>
            <a:r>
              <a:t>Manejo de errores API (GoogleAPICallError, RetryError)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63FF"/>
                </a:solidFill>
                <a:latin typeface="Consolas"/>
              </a:defRPr>
            </a:pPr>
            <a:r>
              <a:t>gcloud pubsub topics create TOPIC_VENTAS</a:t>
            </a:r>
            <a:br/>
            <a:r>
              <a:t>gcloud pubsub subscriptions create ventas-sub \</a:t>
            </a:r>
            <a:br/>
            <a:r>
              <a:t>    --topic=TOPIC_VENTAS --ack-deadline=60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5029200" cy="43891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Dataflow + Cloud 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DD5E0"/>
                </a:solidFill>
                <a:latin typeface="Calibri"/>
              </a:defRPr>
            </a:pPr>
            <a:r>
              <a:t>Pipeline Java con Apache Beam</a:t>
            </a:r>
          </a:p>
          <a:p>
            <a:pPr>
              <a:spcAft>
                <a:spcPts val="600"/>
              </a:spcAft>
              <a:defRPr sz="1500">
                <a:solidFill>
                  <a:srgbClr val="CDD5E0"/>
                </a:solidFill>
                <a:latin typeface="Calibri"/>
              </a:defRPr>
            </a:pPr>
            <a:r>
              <a:t>Ventanas fijas de 12 segundos</a:t>
            </a:r>
          </a:p>
          <a:p>
            <a:pPr>
              <a:spcAft>
                <a:spcPts val="600"/>
              </a:spcAft>
              <a:defRPr sz="1500">
                <a:solidFill>
                  <a:srgbClr val="CDD5E0"/>
                </a:solidFill>
                <a:latin typeface="Calibri"/>
              </a:defRPr>
            </a:pPr>
            <a:r>
              <a:t>1 worker n1-standard-1 (laboratorio)</a:t>
            </a:r>
          </a:p>
          <a:p>
            <a:pPr>
              <a:spcAft>
                <a:spcPts val="600"/>
              </a:spcAft>
              <a:defRPr sz="1500">
                <a:solidFill>
                  <a:srgbClr val="CDD5E0"/>
                </a:solidFill>
                <a:latin typeface="Calibri"/>
              </a:defRPr>
            </a:pPr>
            <a:r>
              <a:t>Output: CSV en Cloud Storage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84048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63FF"/>
                </a:solidFill>
                <a:latin typeface="Consolas"/>
              </a:defRPr>
            </a:pPr>
            <a:r>
              <a:t>mvn compile exec:java \</a:t>
            </a:r>
            <a:br/>
            <a:r>
              <a:t>  -Dexec.mainClass=com.example.streaming.PubSubToGCS \</a:t>
            </a:r>
            <a:br/>
            <a:r>
              <a:t>  -Dexec.args="--project=$PROJECT_ID \</a:t>
            </a:r>
            <a:br/>
            <a:r>
              <a:t>    --region=$REGION \</a:t>
            </a:r>
            <a:br/>
            <a:r>
              <a:t>    --inputTopic=projects/.../topics/$TOPIC_ID \</a:t>
            </a:r>
            <a:br/>
            <a:r>
              <a:t>    --output=gs://$BUCKET_NAME/samples/output \</a:t>
            </a:r>
            <a:br/>
            <a:r>
              <a:t>    --runner=DataflowRunner --windowSize=12 \</a:t>
            </a:r>
            <a:br/>
            <a:r>
              <a:t>    --numWorkers=1 --autoscalingAlgorithm=NONE"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9728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Modelo de Datos y Visualización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8"/>
                </a:solidFill>
                <a:latin typeface="Calibri"/>
              </a:defRPr>
            </a:pPr>
            <a:r>
              <a:t>Esquema de 10 campos y dashboard en Looker Studio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029200" cy="475488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t>Esquema de Datos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4480560" cy="10972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DD5E0"/>
                </a:solidFill>
                <a:latin typeface="Consolas"/>
              </a:defRPr>
            </a:pPr>
            <a:r>
              <a:t>id_cliente | cliente | genero</a:t>
            </a:r>
            <a:br/>
            <a:r>
              <a:t>id_producto | producto</a:t>
            </a:r>
            <a:br/>
            <a:r>
              <a:t>precio | cantidad | monto</a:t>
            </a:r>
            <a:br/>
            <a:r>
              <a:t>forma_pago | fecreg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57600"/>
            <a:ext cx="4663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Dashboard - 3 visualizaciones: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DD5E0"/>
                </a:solidFill>
                <a:latin typeface="Calibri"/>
              </a:defRPr>
            </a:pPr>
            <a:r>
              <a:t>Distribución por género: 63.2% M · 36.8% H</a:t>
            </a:r>
          </a:p>
          <a:p>
            <a:pPr>
              <a:spcAft>
                <a:spcPts val="600"/>
              </a:spcAft>
              <a:defRPr sz="1400">
                <a:solidFill>
                  <a:srgbClr val="CDD5E0"/>
                </a:solidFill>
                <a:latin typeface="Calibri"/>
              </a:defRPr>
            </a:pPr>
            <a:r>
              <a:t>Productos/Empresas: volumen de operaciones</a:t>
            </a:r>
            <a:br/>
            <a:r>
              <a:t>   por componente (Meta, Salesforce, etc.)</a:t>
            </a:r>
          </a:p>
          <a:p>
            <a:pPr>
              <a:spcAft>
                <a:spcPts val="600"/>
              </a:spcAft>
              <a:defRPr sz="1400">
                <a:solidFill>
                  <a:srgbClr val="CDD5E0"/>
                </a:solidFill>
                <a:latin typeface="Calibri"/>
              </a:defRPr>
            </a:pPr>
            <a:r>
              <a:t>Monto por Producto: transacciones según</a:t>
            </a:r>
            <a:br/>
            <a:r>
              <a:t>   valor económico segmentado por empresa</a:t>
            </a:r>
          </a:p>
        </p:txBody>
      </p:sp>
      <p:pic>
        <p:nvPicPr>
          <p:cNvPr id="11" name="Picture 10" descr="grafic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7607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9728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Latencia y Conclusiones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303520" cy="475488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Latencia del Sistema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68880"/>
            <a:ext cx="4572000" cy="17373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1968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/>
              </a:defRPr>
            </a:pPr>
            <a:r>
              <a:t>Tiempo de procesamiento crudo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~37 segundos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8328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8"/>
                </a:solidFill>
                <a:latin typeface="Calibri"/>
              </a:defRPr>
            </a:pPr>
            <a:r>
              <a:t>Data Lag: tiempo desde que el mensaje</a:t>
            </a:r>
            <a:br/>
            <a:r>
              <a:t>llega a Pub/Sub hasta que Dataflow</a:t>
            </a:r>
            <a:br/>
            <a:r>
              <a:t>lo procesa en memoria RAM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480560"/>
            <a:ext cx="4572000" cy="17373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53136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/>
              </a:defRPr>
            </a:pPr>
            <a:r>
              <a:t>Latencia de disponibilidad final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84632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12 minutos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39496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8"/>
                </a:solidFill>
                <a:latin typeface="Calibri"/>
              </a:defRPr>
            </a:pPr>
            <a:r>
              <a:t>Tiempo total hasta que el dato se</a:t>
            </a:r>
            <a:br/>
            <a:r>
              <a:t>guarda como archivo CSV en</a:t>
            </a:r>
            <a:br/>
            <a:r>
              <a:t>Cloud Storage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645920"/>
            <a:ext cx="5486400" cy="475488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8288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Conclusiones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37744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DD5E0"/>
                </a:solidFill>
                <a:latin typeface="Calibri"/>
              </a:defRPr>
            </a:pPr>
            <a:r>
              <a:t>GCP es adecuado para datos continuos e impredecibles</a:t>
            </a:r>
          </a:p>
          <a:p>
            <a:pPr>
              <a:spcAft>
                <a:spcPts val="800"/>
              </a:spcAft>
              <a:defRPr sz="1400">
                <a:solidFill>
                  <a:srgbClr val="CDD5E0"/>
                </a:solidFill>
                <a:latin typeface="Calibri"/>
              </a:defRPr>
            </a:pPr>
            <a:r>
              <a:t>Cloud Run + Pub/Sub desacoplan y garantizan resiliencia</a:t>
            </a:r>
          </a:p>
          <a:p>
            <a:pPr>
              <a:spcAft>
                <a:spcPts val="800"/>
              </a:spcAft>
              <a:defRPr sz="1400">
                <a:solidFill>
                  <a:srgbClr val="CDD5E0"/>
                </a:solidFill>
                <a:latin typeface="Calibri"/>
              </a:defRPr>
            </a:pPr>
            <a:r>
              <a:t>Dataflow con ventanas de 12s materializa datos casi en tiempo real</a:t>
            </a:r>
          </a:p>
          <a:p>
            <a:pPr>
              <a:spcAft>
                <a:spcPts val="800"/>
              </a:spcAft>
              <a:defRPr sz="1400">
                <a:solidFill>
                  <a:srgbClr val="CDD5E0"/>
                </a:solidFill>
                <a:latin typeface="Calibri"/>
              </a:defRPr>
            </a:pPr>
            <a:r>
              <a:t>Latencia total de ~12 min desde evento a CSV disponible</a:t>
            </a:r>
          </a:p>
          <a:p>
            <a:pPr>
              <a:spcAft>
                <a:spcPts val="800"/>
              </a:spcAft>
              <a:defRPr sz="1400">
                <a:solidFill>
                  <a:srgbClr val="CDD5E0"/>
                </a:solidFill>
                <a:latin typeface="Calibri"/>
              </a:defRPr>
            </a:pPr>
            <a:r>
              <a:t>Arquitectura híbrida streaming + batch equilibra velocidad y calidad</a:t>
            </a:r>
          </a:p>
          <a:p>
            <a:pPr>
              <a:spcAft>
                <a:spcPts val="800"/>
              </a:spcAft>
              <a:defRPr sz="1400">
                <a:solidFill>
                  <a:srgbClr val="CDD5E0"/>
                </a:solidFill>
                <a:latin typeface="Calibri"/>
              </a:defRPr>
            </a:pPr>
            <a:r>
              <a:t>Batch y Streaming conviven en la misma plataforma GCP</a:t>
            </a:r>
          </a:p>
          <a:p>
            <a:pPr>
              <a:spcAft>
                <a:spcPts val="800"/>
              </a:spcAft>
              <a:defRPr sz="1400">
                <a:solidFill>
                  <a:srgbClr val="CDD5E0"/>
                </a:solidFill>
                <a:latin typeface="Calibri"/>
              </a:defRPr>
            </a:pPr>
            <a:r>
              <a:t>Dashboard entrega indicadores clave para decisiones operativas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¿Preguntas?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0B8"/>
                </a:solidFill>
                <a:latin typeface="Calibri"/>
              </a:defRPr>
            </a:pPr>
            <a:r>
              <a:t>Arquitectura de Streaming · Subasta de Componentes · Duoc UC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Calibri"/>
              </a:defRPr>
            </a:pPr>
            <a:r>
              <a:t>EV3 · Informe Técnico · Big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754880"/>
            <a:ext cx="22860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