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aleway"/>
      <p:regular r:id="rId16"/>
      <p:bold r:id="rId17"/>
      <p:italic r:id="rId18"/>
      <p:boldItalic r:id="rId19"/>
    </p:embeddedFon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11" Type="http://schemas.openxmlformats.org/officeDocument/2006/relationships/slide" Target="slides/slide6.xml"/><Relationship Id="rId22" Type="http://schemas.openxmlformats.org/officeDocument/2006/relationships/font" Target="fonts/RobotoMono-italic.fntdata"/><Relationship Id="rId10" Type="http://schemas.openxmlformats.org/officeDocument/2006/relationships/slide" Target="slides/slide5.xml"/><Relationship Id="rId21" Type="http://schemas.openxmlformats.org/officeDocument/2006/relationships/font" Target="fonts/RobotoMon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Mon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bold.fntdata"/><Relationship Id="rId16" Type="http://schemas.openxmlformats.org/officeDocument/2006/relationships/font" Target="fonts/Raleway-regular.fntdata"/><Relationship Id="rId5" Type="http://schemas.openxmlformats.org/officeDocument/2006/relationships/notesMaster" Target="notesMasters/notesMaster1.xml"/><Relationship Id="rId19" Type="http://schemas.openxmlformats.org/officeDocument/2006/relationships/font" Target="fonts/Raleway-boldItalic.fntdata"/><Relationship Id="rId6" Type="http://schemas.openxmlformats.org/officeDocument/2006/relationships/slide" Target="slides/slide1.xml"/><Relationship Id="rId18"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e55df91f0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e55df91f0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55df91f0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e55df91f0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55df91f0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55df91f0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55df91f0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55df91f0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55df91f0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55df91f0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55df91f0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e55df91f0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e55df91f0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e55df91f0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55df91f0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55df91f0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55df91f0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e55df91f0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5875" y="264475"/>
            <a:ext cx="8183700" cy="14736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0"/>
              </a:spcBef>
              <a:spcAft>
                <a:spcPts val="0"/>
              </a:spcAft>
              <a:buNone/>
            </a:pPr>
            <a:r>
              <a:rPr b="1" lang="es" sz="4200">
                <a:solidFill>
                  <a:srgbClr val="000000"/>
                </a:solidFill>
                <a:highlight>
                  <a:srgbClr val="599191"/>
                </a:highlight>
              </a:rPr>
              <a:t>Informe Big Data: caso</a:t>
            </a:r>
            <a:endParaRPr b="1" sz="4200">
              <a:solidFill>
                <a:srgbClr val="000000"/>
              </a:solidFill>
              <a:highlight>
                <a:srgbClr val="599191"/>
              </a:highlight>
            </a:endParaRPr>
          </a:p>
          <a:p>
            <a:pPr indent="0" lvl="0" marL="0" rtl="0" algn="l">
              <a:lnSpc>
                <a:spcPct val="115000"/>
              </a:lnSpc>
              <a:spcBef>
                <a:spcPts val="0"/>
              </a:spcBef>
              <a:spcAft>
                <a:spcPts val="0"/>
              </a:spcAft>
              <a:buNone/>
            </a:pPr>
            <a:r>
              <a:rPr b="1" lang="es" sz="4200">
                <a:solidFill>
                  <a:srgbClr val="000000"/>
                </a:solidFill>
                <a:highlight>
                  <a:srgbClr val="599191"/>
                </a:highlight>
              </a:rPr>
              <a:t>Taxis New</a:t>
            </a:r>
            <a:endParaRPr>
              <a:solidFill>
                <a:srgbClr val="000000"/>
              </a:solidFill>
              <a:highlight>
                <a:srgbClr val="599191"/>
              </a:highlight>
            </a:endParaRPr>
          </a:p>
        </p:txBody>
      </p:sp>
      <p:sp>
        <p:nvSpPr>
          <p:cNvPr id="59" name="Google Shape;59;p13"/>
          <p:cNvSpPr txBox="1"/>
          <p:nvPr/>
        </p:nvSpPr>
        <p:spPr>
          <a:xfrm>
            <a:off x="4231875" y="3553525"/>
            <a:ext cx="4852200" cy="10995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None/>
            </a:pPr>
            <a:r>
              <a:rPr b="1" lang="es" sz="1700">
                <a:solidFill>
                  <a:srgbClr val="000000"/>
                </a:solidFill>
              </a:rPr>
              <a:t>I</a:t>
            </a:r>
            <a:r>
              <a:rPr b="1" lang="es" sz="1500">
                <a:solidFill>
                  <a:srgbClr val="000000"/>
                </a:solidFill>
              </a:rPr>
              <a:t>ntegrantes</a:t>
            </a:r>
            <a:r>
              <a:rPr lang="es" sz="1500">
                <a:solidFill>
                  <a:srgbClr val="000000"/>
                </a:solidFill>
              </a:rPr>
              <a:t>: Luis jofre, Francisco carrasco</a:t>
            </a:r>
            <a:endParaRPr sz="1500">
              <a:solidFill>
                <a:srgbClr val="000000"/>
              </a:solidFill>
            </a:endParaRPr>
          </a:p>
          <a:p>
            <a:pPr indent="0" lvl="0" marL="0" rtl="0" algn="l">
              <a:lnSpc>
                <a:spcPct val="115000"/>
              </a:lnSpc>
              <a:spcBef>
                <a:spcPts val="0"/>
              </a:spcBef>
              <a:spcAft>
                <a:spcPts val="0"/>
              </a:spcAft>
              <a:buNone/>
            </a:pPr>
            <a:r>
              <a:rPr b="1" lang="es" sz="1500">
                <a:solidFill>
                  <a:srgbClr val="000000"/>
                </a:solidFill>
              </a:rPr>
              <a:t>Docente:</a:t>
            </a:r>
            <a:r>
              <a:rPr lang="es" sz="1500">
                <a:solidFill>
                  <a:srgbClr val="000000"/>
                </a:solidFill>
              </a:rPr>
              <a:t> Vicente Julio Zapata Valenzuela</a:t>
            </a:r>
            <a:endParaRPr sz="1500">
              <a:solidFill>
                <a:srgbClr val="000000"/>
              </a:solidFill>
            </a:endParaRPr>
          </a:p>
          <a:p>
            <a:pPr indent="0" lvl="0" marL="0" rtl="0" algn="l">
              <a:lnSpc>
                <a:spcPct val="115000"/>
              </a:lnSpc>
              <a:spcBef>
                <a:spcPts val="0"/>
              </a:spcBef>
              <a:spcAft>
                <a:spcPts val="0"/>
              </a:spcAft>
              <a:buNone/>
            </a:pPr>
            <a:r>
              <a:rPr b="1" lang="es" sz="1500">
                <a:solidFill>
                  <a:srgbClr val="000000"/>
                </a:solidFill>
              </a:rPr>
              <a:t>Seccion: </a:t>
            </a:r>
            <a:r>
              <a:rPr lang="es" sz="1500">
                <a:solidFill>
                  <a:srgbClr val="000000"/>
                </a:solidFill>
              </a:rPr>
              <a:t>004D</a:t>
            </a:r>
            <a:endParaRPr sz="15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65" name="Google Shape;65;p14"/>
          <p:cNvSpPr txBox="1"/>
          <p:nvPr/>
        </p:nvSpPr>
        <p:spPr>
          <a:xfrm>
            <a:off x="484118" y="139386"/>
            <a:ext cx="7326600" cy="787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None/>
            </a:pPr>
            <a:r>
              <a:rPr b="1" lang="es" sz="4000">
                <a:solidFill>
                  <a:srgbClr val="000000"/>
                </a:solidFill>
              </a:rPr>
              <a:t>Arquitectura Caso Taxis</a:t>
            </a:r>
            <a:endParaRPr b="1" sz="3600">
              <a:solidFill>
                <a:srgbClr val="000000"/>
              </a:solidFill>
            </a:endParaRPr>
          </a:p>
        </p:txBody>
      </p:sp>
      <p:pic>
        <p:nvPicPr>
          <p:cNvPr id="66" name="Google Shape;66;p14" title="Arquitectura.jpg"/>
          <p:cNvPicPr preferRelativeResize="0"/>
          <p:nvPr/>
        </p:nvPicPr>
        <p:blipFill>
          <a:blip r:embed="rId3">
            <a:alphaModFix/>
          </a:blip>
          <a:stretch>
            <a:fillRect/>
          </a:stretch>
        </p:blipFill>
        <p:spPr>
          <a:xfrm>
            <a:off x="311700" y="1152475"/>
            <a:ext cx="8520599" cy="327405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400"/>
              </a:spcAft>
              <a:buNone/>
            </a:pPr>
            <a:r>
              <a:rPr b="1" lang="es" sz="1800"/>
              <a:t> Detalle de los componentes y su lógica de la arquitectura</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900"/>
              </a:spcBef>
              <a:spcAft>
                <a:spcPts val="0"/>
              </a:spcAft>
              <a:buClr>
                <a:schemeClr val="dk2"/>
              </a:buClr>
              <a:buSzPts val="1200"/>
              <a:buChar char="●"/>
            </a:pPr>
            <a:r>
              <a:rPr b="1" lang="es" sz="1200">
                <a:solidFill>
                  <a:schemeClr val="dk2"/>
                </a:solidFill>
              </a:rPr>
              <a:t>Cloud Scheduler:</a:t>
            </a:r>
            <a:r>
              <a:rPr lang="es" sz="1200">
                <a:solidFill>
                  <a:schemeClr val="dk2"/>
                </a:solidFill>
              </a:rPr>
              <a:t> Es el despertador automático del sistema. Se encarga de activar las tareas en horas exactas y por lotes de datos, sin que ninguna persona tenga que apretar un botón.</a:t>
            </a:r>
            <a:endParaRPr sz="1200">
              <a:solidFill>
                <a:schemeClr val="dk2"/>
              </a:solidFill>
            </a:endParaRPr>
          </a:p>
          <a:p>
            <a:pPr indent="-304800" lvl="0" marL="457200" rtl="0" algn="l">
              <a:spcBef>
                <a:spcPts val="0"/>
              </a:spcBef>
              <a:spcAft>
                <a:spcPts val="0"/>
              </a:spcAft>
              <a:buClr>
                <a:schemeClr val="dk2"/>
              </a:buClr>
              <a:buSzPts val="1200"/>
              <a:buChar char="●"/>
            </a:pPr>
            <a:r>
              <a:rPr b="1" lang="es" sz="1200">
                <a:solidFill>
                  <a:schemeClr val="dk2"/>
                </a:solidFill>
              </a:rPr>
              <a:t>Google Cloud Pub/Sub:</a:t>
            </a:r>
            <a:r>
              <a:rPr lang="es" sz="1200">
                <a:solidFill>
                  <a:schemeClr val="dk2"/>
                </a:solidFill>
              </a:rPr>
              <a:t> Funciona como un servicio de mensajería seguro. Recibe las alertas del programador y las pasa de inmediato a los programas que limpian los datos, asegurando que ningún mensaje se pierda en el camino.</a:t>
            </a:r>
            <a:endParaRPr sz="1200">
              <a:solidFill>
                <a:schemeClr val="dk2"/>
              </a:solidFill>
            </a:endParaRPr>
          </a:p>
          <a:p>
            <a:pPr indent="-304800" lvl="0" marL="457200" rtl="0" algn="l">
              <a:spcBef>
                <a:spcPts val="0"/>
              </a:spcBef>
              <a:spcAft>
                <a:spcPts val="0"/>
              </a:spcAft>
              <a:buClr>
                <a:schemeClr val="dk2"/>
              </a:buClr>
              <a:buSzPts val="1200"/>
              <a:buChar char="●"/>
            </a:pPr>
            <a:r>
              <a:rPr b="1" lang="es" sz="1200">
                <a:solidFill>
                  <a:schemeClr val="dk2"/>
                </a:solidFill>
              </a:rPr>
              <a:t>Google Cloud Run:</a:t>
            </a:r>
            <a:r>
              <a:rPr lang="es" sz="1200">
                <a:solidFill>
                  <a:schemeClr val="dk2"/>
                </a:solidFill>
              </a:rPr>
              <a:t> Es una plataforma en la nube que ejecuta un código hecho en Python. Cuando recibe un mensaje, este componente descarga los archivos pesados de los taxis de Nueva York, los guarda en la memoria y hace una primera limpieza de la información.</a:t>
            </a:r>
            <a:endParaRPr sz="1200">
              <a:solidFill>
                <a:schemeClr val="dk2"/>
              </a:solidFill>
            </a:endParaRPr>
          </a:p>
          <a:p>
            <a:pPr indent="-304800" lvl="0" marL="457200" rtl="0" algn="l">
              <a:spcBef>
                <a:spcPts val="0"/>
              </a:spcBef>
              <a:spcAft>
                <a:spcPts val="0"/>
              </a:spcAft>
              <a:buClr>
                <a:schemeClr val="dk2"/>
              </a:buClr>
              <a:buSzPts val="1200"/>
              <a:buChar char="●"/>
            </a:pPr>
            <a:r>
              <a:rPr b="1" lang="es" sz="1200">
                <a:solidFill>
                  <a:schemeClr val="dk2"/>
                </a:solidFill>
              </a:rPr>
              <a:t>Google Cloud Storage:</a:t>
            </a:r>
            <a:r>
              <a:rPr lang="es" sz="1200">
                <a:solidFill>
                  <a:schemeClr val="dk2"/>
                </a:solidFill>
              </a:rPr>
              <a:t> Es un almacén digital muy económico y seguro. Guarda los archivos históricos organizados por fecha y hora, y también mantiene un archivo principal actualizado para que otras herramientas lo puedan usar después.</a:t>
            </a:r>
            <a:endParaRPr sz="1200">
              <a:solidFill>
                <a:schemeClr val="dk2"/>
              </a:solidFill>
            </a:endParaRPr>
          </a:p>
          <a:p>
            <a:pPr indent="-304800" lvl="0" marL="457200" rtl="0" algn="l">
              <a:spcBef>
                <a:spcPts val="0"/>
              </a:spcBef>
              <a:spcAft>
                <a:spcPts val="0"/>
              </a:spcAft>
              <a:buClr>
                <a:schemeClr val="dk2"/>
              </a:buClr>
              <a:buSzPts val="1200"/>
              <a:buChar char="●"/>
            </a:pPr>
            <a:r>
              <a:rPr b="1" lang="es" sz="1200">
                <a:solidFill>
                  <a:schemeClr val="dk2"/>
                </a:solidFill>
              </a:rPr>
              <a:t>Alteryx Designer:</a:t>
            </a:r>
            <a:r>
              <a:rPr lang="es" sz="1200">
                <a:solidFill>
                  <a:schemeClr val="dk2"/>
                </a:solidFill>
              </a:rPr>
              <a:t> Es el motor visual que transforma los datos. Se conecta directamente al almacén digital para aplicar reglas de negocio estrictas, ordenar la información compleja y dejar el modelo listo para los analistas.</a:t>
            </a:r>
            <a:endParaRPr sz="1200">
              <a:solidFill>
                <a:schemeClr val="dk2"/>
              </a:solidFill>
            </a:endParaRPr>
          </a:p>
          <a:p>
            <a:pPr indent="-304800" lvl="0" marL="457200" rtl="0" algn="l">
              <a:spcBef>
                <a:spcPts val="0"/>
              </a:spcBef>
              <a:spcAft>
                <a:spcPts val="0"/>
              </a:spcAft>
              <a:buClr>
                <a:schemeClr val="dk2"/>
              </a:buClr>
              <a:buSzPts val="1200"/>
              <a:buChar char="●"/>
            </a:pPr>
            <a:r>
              <a:rPr b="1" lang="es" sz="1200">
                <a:solidFill>
                  <a:schemeClr val="dk2"/>
                </a:solidFill>
              </a:rPr>
              <a:t>Google BigQuery:</a:t>
            </a:r>
            <a:r>
              <a:rPr lang="es" sz="1200">
                <a:solidFill>
                  <a:schemeClr val="dk2"/>
                </a:solidFill>
              </a:rPr>
              <a:t> Es una base de datos gigante y ultra rápida. Guarda millones de filas ya limpias en una tabla ordenada y permite hacer preguntas de código SQL para analizar montañas de información en pocos segundos.</a:t>
            </a:r>
            <a:endParaRPr sz="1200">
              <a:solidFill>
                <a:schemeClr val="dk2"/>
              </a:solidFill>
            </a:endParaRPr>
          </a:p>
          <a:p>
            <a:pPr indent="-304800" lvl="0" marL="457200" rtl="0" algn="l">
              <a:spcBef>
                <a:spcPts val="0"/>
              </a:spcBef>
              <a:spcAft>
                <a:spcPts val="0"/>
              </a:spcAft>
              <a:buClr>
                <a:schemeClr val="dk2"/>
              </a:buClr>
              <a:buSzPts val="1200"/>
              <a:buChar char="●"/>
            </a:pPr>
            <a:r>
              <a:rPr b="1" lang="es" sz="1200">
                <a:solidFill>
                  <a:schemeClr val="dk2"/>
                </a:solidFill>
              </a:rPr>
              <a:t>Power BI Desktop:</a:t>
            </a:r>
            <a:r>
              <a:rPr lang="es" sz="1200">
                <a:solidFill>
                  <a:schemeClr val="dk2"/>
                </a:solidFill>
              </a:rPr>
              <a:t> Es la herramienta que hace la magia visual. Se conecta a la base de datos para tomar la información ordenada y transformarla en gráficos interactivos e informes visuales que ayudan a los jefes a tomar decisiones.</a:t>
            </a:r>
            <a:endParaRPr sz="12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400"/>
              </a:spcAft>
              <a:buClr>
                <a:schemeClr val="dk1"/>
              </a:buClr>
              <a:buSzPts val="1100"/>
              <a:buFont typeface="Arial"/>
              <a:buNone/>
            </a:pPr>
            <a:r>
              <a:rPr b="1" lang="es" sz="1800"/>
              <a:t>PROCESO ETL: LIMPIEZA, NORMALIZACIÓN Y TRANSFORMACIÓN DE DATOS</a:t>
            </a:r>
            <a:endParaRPr/>
          </a:p>
        </p:txBody>
      </p:sp>
      <p:sp>
        <p:nvSpPr>
          <p:cNvPr id="78" name="Google Shape;78;p16"/>
          <p:cNvSpPr txBox="1"/>
          <p:nvPr>
            <p:ph idx="1" type="body"/>
          </p:nvPr>
        </p:nvSpPr>
        <p:spPr>
          <a:xfrm>
            <a:off x="-102200" y="1326300"/>
            <a:ext cx="42603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es" sz="1100">
                <a:solidFill>
                  <a:srgbClr val="000000"/>
                </a:solidFill>
                <a:latin typeface="Arial"/>
                <a:ea typeface="Arial"/>
                <a:cs typeface="Arial"/>
                <a:sym typeface="Arial"/>
              </a:rPr>
              <a:t>Limpieza de Datos (Validación de Negocio y Calidad)</a:t>
            </a:r>
            <a:r>
              <a:rPr lang="es"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Purga de transacciones inválidas:</a:t>
            </a:r>
            <a:r>
              <a:rPr lang="es" sz="1100">
                <a:solidFill>
                  <a:srgbClr val="000000"/>
                </a:solidFill>
                <a:latin typeface="Arial"/>
                <a:ea typeface="Arial"/>
                <a:cs typeface="Arial"/>
                <a:sym typeface="Arial"/>
              </a:rPr>
              <a:t> Se procedió a la eliminación sistemática de registros con distancia de viaje (</a:t>
            </a:r>
            <a:r>
              <a:rPr lang="es" sz="1100">
                <a:solidFill>
                  <a:srgbClr val="188038"/>
                </a:solidFill>
                <a:latin typeface="Roboto Mono"/>
                <a:ea typeface="Roboto Mono"/>
                <a:cs typeface="Roboto Mono"/>
                <a:sym typeface="Roboto Mono"/>
              </a:rPr>
              <a:t>trip_distance</a:t>
            </a:r>
            <a:r>
              <a:rPr lang="es" sz="1100">
                <a:solidFill>
                  <a:srgbClr val="000000"/>
                </a:solidFill>
                <a:latin typeface="Arial"/>
                <a:ea typeface="Arial"/>
                <a:cs typeface="Arial"/>
                <a:sym typeface="Arial"/>
              </a:rPr>
              <a:t>) o montos totales (</a:t>
            </a:r>
            <a:r>
              <a:rPr lang="es" sz="1100">
                <a:solidFill>
                  <a:srgbClr val="188038"/>
                </a:solidFill>
                <a:latin typeface="Roboto Mono"/>
                <a:ea typeface="Roboto Mono"/>
                <a:cs typeface="Roboto Mono"/>
                <a:sym typeface="Roboto Mono"/>
              </a:rPr>
              <a:t>total_amount</a:t>
            </a:r>
            <a:r>
              <a:rPr lang="es" sz="1100">
                <a:solidFill>
                  <a:srgbClr val="000000"/>
                </a:solidFill>
                <a:latin typeface="Arial"/>
                <a:ea typeface="Arial"/>
                <a:cs typeface="Arial"/>
                <a:sym typeface="Arial"/>
              </a:rPr>
              <a:t>) iguales o menores a cero. Estos registros representan transacciones truncadas, viajes cancelados o fallas en la calibración del taxímetro.</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Aislamiento de anomalías temporales:</a:t>
            </a:r>
            <a:r>
              <a:rPr lang="es" sz="1100">
                <a:solidFill>
                  <a:srgbClr val="000000"/>
                </a:solidFill>
                <a:latin typeface="Arial"/>
                <a:ea typeface="Arial"/>
                <a:cs typeface="Arial"/>
                <a:sym typeface="Arial"/>
              </a:rPr>
              <a:t> Se implementó un filtro para descartar registros con fechas atípicas o fuera del rango objetivo del análisis temporal, originados habitualmente por desconfiguraciones de hardware en los terminales de los vehículos.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Deduplicación:</a:t>
            </a:r>
            <a:r>
              <a:rPr lang="es" sz="1100">
                <a:solidFill>
                  <a:srgbClr val="000000"/>
                </a:solidFill>
                <a:latin typeface="Arial"/>
                <a:ea typeface="Arial"/>
                <a:cs typeface="Arial"/>
                <a:sym typeface="Arial"/>
              </a:rPr>
              <a:t> Se ejecutó una validación a nivel de fila para identificar y remover registros exactos duplicados, evitando la inflación artificial de los ingresos y el recuento de pasajeros.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sz="1100">
              <a:solidFill>
                <a:srgbClr val="000000"/>
              </a:solidFill>
              <a:latin typeface="Arial"/>
              <a:ea typeface="Arial"/>
              <a:cs typeface="Arial"/>
              <a:sym typeface="Arial"/>
            </a:endParaRPr>
          </a:p>
        </p:txBody>
      </p:sp>
      <p:pic>
        <p:nvPicPr>
          <p:cNvPr id="79" name="Google Shape;79;p16"/>
          <p:cNvPicPr preferRelativeResize="0"/>
          <p:nvPr/>
        </p:nvPicPr>
        <p:blipFill>
          <a:blip r:embed="rId3">
            <a:alphaModFix/>
          </a:blip>
          <a:stretch>
            <a:fillRect/>
          </a:stretch>
        </p:blipFill>
        <p:spPr>
          <a:xfrm>
            <a:off x="4117200" y="1068425"/>
            <a:ext cx="5026799" cy="3778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lang="es" sz="2500">
                <a:solidFill>
                  <a:srgbClr val="000000"/>
                </a:solidFill>
                <a:latin typeface="Arial"/>
                <a:ea typeface="Arial"/>
                <a:cs typeface="Arial"/>
                <a:sym typeface="Arial"/>
              </a:rPr>
              <a:t>Normalización de Datos</a:t>
            </a:r>
            <a:endParaRPr sz="4400"/>
          </a:p>
        </p:txBody>
      </p:sp>
      <p:sp>
        <p:nvSpPr>
          <p:cNvPr id="85" name="Google Shape;8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2"/>
              </a:buClr>
              <a:buSzPts val="1100"/>
              <a:buFont typeface="Arial"/>
              <a:buChar char="●"/>
            </a:pPr>
            <a:r>
              <a:rPr b="1" lang="es" sz="1100">
                <a:solidFill>
                  <a:schemeClr val="dk2"/>
                </a:solidFill>
                <a:latin typeface="Arial"/>
                <a:ea typeface="Arial"/>
                <a:cs typeface="Arial"/>
                <a:sym typeface="Arial"/>
              </a:rPr>
              <a:t>Tratamiento de valores nulos:</a:t>
            </a:r>
            <a:r>
              <a:rPr lang="es" sz="1100">
                <a:solidFill>
                  <a:schemeClr val="dk2"/>
                </a:solidFill>
                <a:latin typeface="Arial"/>
                <a:ea typeface="Arial"/>
                <a:cs typeface="Arial"/>
                <a:sym typeface="Arial"/>
              </a:rPr>
              <a:t> Se estandarizó la gestión de celdas vacías (</a:t>
            </a:r>
            <a:r>
              <a:rPr lang="es" sz="1100">
                <a:solidFill>
                  <a:srgbClr val="188038"/>
                </a:solidFill>
                <a:latin typeface="Roboto Mono"/>
                <a:ea typeface="Roboto Mono"/>
                <a:cs typeface="Roboto Mono"/>
                <a:sym typeface="Roboto Mono"/>
              </a:rPr>
              <a:t>NULL</a:t>
            </a:r>
            <a:r>
              <a:rPr lang="es" sz="1100">
                <a:solidFill>
                  <a:schemeClr val="dk2"/>
                </a:solidFill>
                <a:latin typeface="Arial"/>
                <a:ea typeface="Arial"/>
                <a:cs typeface="Arial"/>
                <a:sym typeface="Arial"/>
              </a:rPr>
              <a:t> o </a:t>
            </a:r>
            <a:r>
              <a:rPr lang="es" sz="1100">
                <a:solidFill>
                  <a:srgbClr val="188038"/>
                </a:solidFill>
                <a:latin typeface="Roboto Mono"/>
                <a:ea typeface="Roboto Mono"/>
                <a:cs typeface="Roboto Mono"/>
                <a:sym typeface="Roboto Mono"/>
              </a:rPr>
              <a:t>NaN</a:t>
            </a:r>
            <a:r>
              <a:rPr lang="es" sz="1100">
                <a:solidFill>
                  <a:schemeClr val="dk2"/>
                </a:solidFill>
                <a:latin typeface="Arial"/>
                <a:ea typeface="Arial"/>
                <a:cs typeface="Arial"/>
                <a:sym typeface="Arial"/>
              </a:rPr>
              <a:t>) en columnas de categorización críticas, como el tipo de pago (</a:t>
            </a:r>
            <a:r>
              <a:rPr lang="es" sz="1100">
                <a:solidFill>
                  <a:srgbClr val="188038"/>
                </a:solidFill>
                <a:latin typeface="Roboto Mono"/>
                <a:ea typeface="Roboto Mono"/>
                <a:cs typeface="Roboto Mono"/>
                <a:sym typeface="Roboto Mono"/>
              </a:rPr>
              <a:t>payment_type</a:t>
            </a:r>
            <a:r>
              <a:rPr lang="es" sz="1100">
                <a:solidFill>
                  <a:schemeClr val="dk2"/>
                </a:solidFill>
                <a:latin typeface="Arial"/>
                <a:ea typeface="Arial"/>
                <a:cs typeface="Arial"/>
                <a:sym typeface="Arial"/>
              </a:rPr>
              <a:t>) o el código de tarifa (</a:t>
            </a:r>
            <a:r>
              <a:rPr lang="es" sz="1100">
                <a:solidFill>
                  <a:srgbClr val="188038"/>
                </a:solidFill>
                <a:latin typeface="Roboto Mono"/>
                <a:ea typeface="Roboto Mono"/>
                <a:cs typeface="Roboto Mono"/>
                <a:sym typeface="Roboto Mono"/>
              </a:rPr>
              <a:t>RatecodeID</a:t>
            </a:r>
            <a:r>
              <a:rPr lang="es" sz="1100">
                <a:solidFill>
                  <a:schemeClr val="dk2"/>
                </a:solidFill>
                <a:latin typeface="Arial"/>
                <a:ea typeface="Arial"/>
                <a:cs typeface="Arial"/>
                <a:sym typeface="Arial"/>
              </a:rPr>
              <a:t>). Esto previene el quiebre de funciones de agregación (SUM, AVG) al ejecutar consultas SQL masivas.</a:t>
            </a:r>
            <a:endParaRPr sz="1100">
              <a:solidFill>
                <a:schemeClr val="dk2"/>
              </a:solidFill>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b="1" lang="es" sz="1100">
                <a:solidFill>
                  <a:schemeClr val="dk2"/>
                </a:solidFill>
                <a:latin typeface="Arial"/>
                <a:ea typeface="Arial"/>
                <a:cs typeface="Arial"/>
                <a:sym typeface="Arial"/>
              </a:rPr>
              <a:t>Casteo de tipos de datos (Typecasting):</a:t>
            </a:r>
            <a:r>
              <a:rPr lang="es" sz="1100">
                <a:solidFill>
                  <a:schemeClr val="dk2"/>
                </a:solidFill>
                <a:latin typeface="Arial"/>
                <a:ea typeface="Arial"/>
                <a:cs typeface="Arial"/>
                <a:sym typeface="Arial"/>
              </a:rPr>
              <a:t> Se forzó la tipología correcta para cada columna del esquema, asegurando que los identificadores (IDs) se interpreten como enteros (</a:t>
            </a:r>
            <a:r>
              <a:rPr lang="es" sz="1100">
                <a:solidFill>
                  <a:srgbClr val="188038"/>
                </a:solidFill>
                <a:latin typeface="Roboto Mono"/>
                <a:ea typeface="Roboto Mono"/>
                <a:cs typeface="Roboto Mono"/>
                <a:sym typeface="Roboto Mono"/>
              </a:rPr>
              <a:t>INTEGER</a:t>
            </a:r>
            <a:r>
              <a:rPr lang="es" sz="1100">
                <a:solidFill>
                  <a:schemeClr val="dk2"/>
                </a:solidFill>
                <a:latin typeface="Arial"/>
                <a:ea typeface="Arial"/>
                <a:cs typeface="Arial"/>
                <a:sym typeface="Arial"/>
              </a:rPr>
              <a:t>), las métricas de recaudo como decimales (</a:t>
            </a:r>
            <a:r>
              <a:rPr lang="es" sz="1100">
                <a:solidFill>
                  <a:srgbClr val="188038"/>
                </a:solidFill>
                <a:latin typeface="Roboto Mono"/>
                <a:ea typeface="Roboto Mono"/>
                <a:cs typeface="Roboto Mono"/>
                <a:sym typeface="Roboto Mono"/>
              </a:rPr>
              <a:t>FLOAT</a:t>
            </a:r>
            <a:r>
              <a:rPr lang="es" sz="1100">
                <a:solidFill>
                  <a:schemeClr val="dk2"/>
                </a:solidFill>
                <a:latin typeface="Arial"/>
                <a:ea typeface="Arial"/>
                <a:cs typeface="Arial"/>
                <a:sym typeface="Arial"/>
              </a:rPr>
              <a:t>) y los campos cronológicos como formato de fecha y hora estandarizado (</a:t>
            </a:r>
            <a:r>
              <a:rPr lang="es" sz="1100">
                <a:solidFill>
                  <a:srgbClr val="188038"/>
                </a:solidFill>
                <a:latin typeface="Roboto Mono"/>
                <a:ea typeface="Roboto Mono"/>
                <a:cs typeface="Roboto Mono"/>
                <a:sym typeface="Roboto Mono"/>
              </a:rPr>
              <a:t>DATETIME</a:t>
            </a:r>
            <a:r>
              <a:rPr lang="es" sz="1100">
                <a:solidFill>
                  <a:schemeClr val="dk2"/>
                </a:solidFill>
                <a:latin typeface="Arial"/>
                <a:ea typeface="Arial"/>
                <a:cs typeface="Arial"/>
                <a:sym typeface="Arial"/>
              </a:rPr>
              <a:t>).</a:t>
            </a:r>
            <a:endParaRPr/>
          </a:p>
        </p:txBody>
      </p:sp>
      <p:sp>
        <p:nvSpPr>
          <p:cNvPr id="86" name="Google Shape;86;p17"/>
          <p:cNvSpPr txBox="1"/>
          <p:nvPr>
            <p:ph type="title"/>
          </p:nvPr>
        </p:nvSpPr>
        <p:spPr>
          <a:xfrm>
            <a:off x="311700" y="2571750"/>
            <a:ext cx="8520600" cy="301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1200"/>
              </a:spcAft>
              <a:buNone/>
            </a:pPr>
            <a:r>
              <a:rPr lang="es" sz="2100">
                <a:latin typeface="Arial"/>
                <a:ea typeface="Arial"/>
                <a:cs typeface="Arial"/>
                <a:sym typeface="Arial"/>
              </a:rPr>
              <a:t>Transformación y Enriquecimiento</a:t>
            </a:r>
            <a:r>
              <a:rPr b="0" lang="es" sz="2100">
                <a:latin typeface="Arial"/>
                <a:ea typeface="Arial"/>
                <a:cs typeface="Arial"/>
                <a:sym typeface="Arial"/>
              </a:rPr>
              <a:t> </a:t>
            </a:r>
            <a:endParaRPr sz="2400"/>
          </a:p>
        </p:txBody>
      </p:sp>
      <p:sp>
        <p:nvSpPr>
          <p:cNvPr id="87" name="Google Shape;87;p17"/>
          <p:cNvSpPr txBox="1"/>
          <p:nvPr>
            <p:ph idx="1" type="body"/>
          </p:nvPr>
        </p:nvSpPr>
        <p:spPr>
          <a:xfrm>
            <a:off x="311700" y="3024899"/>
            <a:ext cx="8520600" cy="19272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2"/>
              </a:buClr>
              <a:buSzPts val="1100"/>
              <a:buFont typeface="Arial"/>
              <a:buChar char="●"/>
            </a:pPr>
            <a:r>
              <a:rPr b="1" lang="es" sz="1100">
                <a:solidFill>
                  <a:schemeClr val="dk2"/>
                </a:solidFill>
                <a:latin typeface="Arial"/>
                <a:ea typeface="Arial"/>
                <a:cs typeface="Arial"/>
                <a:sym typeface="Arial"/>
              </a:rPr>
              <a:t>Métricas derivadas temporales:</a:t>
            </a:r>
            <a:r>
              <a:rPr lang="es" sz="1100">
                <a:solidFill>
                  <a:schemeClr val="dk2"/>
                </a:solidFill>
                <a:latin typeface="Arial"/>
                <a:ea typeface="Arial"/>
                <a:cs typeface="Arial"/>
                <a:sym typeface="Arial"/>
              </a:rPr>
              <a:t> A partir del campo de la fecha de inicio del viaje (</a:t>
            </a:r>
            <a:r>
              <a:rPr lang="es" sz="1100">
                <a:solidFill>
                  <a:srgbClr val="188038"/>
                </a:solidFill>
                <a:latin typeface="Roboto Mono"/>
                <a:ea typeface="Roboto Mono"/>
                <a:cs typeface="Roboto Mono"/>
                <a:sym typeface="Roboto Mono"/>
              </a:rPr>
              <a:t>tpep_pickup_datetime</a:t>
            </a:r>
            <a:r>
              <a:rPr lang="es" sz="1100">
                <a:solidFill>
                  <a:schemeClr val="dk2"/>
                </a:solidFill>
                <a:latin typeface="Arial"/>
                <a:ea typeface="Arial"/>
                <a:cs typeface="Arial"/>
                <a:sym typeface="Arial"/>
              </a:rPr>
              <a:t>), se utilizaron funciones de extracción para aislar atributos específicos como la "Hora del día" y el "Día de la semana". Esta transformación es indispensable para alimentar los gráficos de distribución temporal en el dashboard final sin sobrecargar el motor de base de datos con cálculos en tiempo de ejecución.</a:t>
            </a:r>
            <a:endParaRPr sz="1100">
              <a:solidFill>
                <a:schemeClr val="dk2"/>
              </a:solidFill>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b="1" lang="es" sz="1100">
                <a:solidFill>
                  <a:schemeClr val="dk2"/>
                </a:solidFill>
                <a:latin typeface="Arial"/>
                <a:ea typeface="Arial"/>
                <a:cs typeface="Arial"/>
                <a:sym typeface="Arial"/>
              </a:rPr>
              <a:t>Optimización del esquema:</a:t>
            </a:r>
            <a:r>
              <a:rPr lang="es" sz="1100">
                <a:solidFill>
                  <a:schemeClr val="dk2"/>
                </a:solidFill>
                <a:latin typeface="Arial"/>
                <a:ea typeface="Arial"/>
                <a:cs typeface="Arial"/>
                <a:sym typeface="Arial"/>
              </a:rPr>
              <a:t> Se descartaron las columnas del origen que carecían de valor para los requerimientos del negocio. Esta reducción de dimensionalidad disminuye el peso del archivo procesado, optimizando la velocidad de transferencia y minimizando los costos de almacenamiento computacional en la nube.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266975" y="430125"/>
            <a:ext cx="8520600" cy="623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400"/>
              </a:spcAft>
              <a:buClr>
                <a:schemeClr val="dk2"/>
              </a:buClr>
              <a:buSzPts val="1100"/>
              <a:buFont typeface="Arial"/>
              <a:buNone/>
            </a:pPr>
            <a:r>
              <a:rPr lang="es" sz="2400">
                <a:latin typeface="Arial"/>
                <a:ea typeface="Arial"/>
                <a:cs typeface="Arial"/>
                <a:sym typeface="Arial"/>
              </a:rPr>
              <a:t>MODELO DE DATOS Y CONSULTAS EN BIGQUERY </a:t>
            </a:r>
            <a:endParaRPr sz="3600"/>
          </a:p>
        </p:txBody>
      </p:sp>
      <p:sp>
        <p:nvSpPr>
          <p:cNvPr id="93" name="Google Shape;93;p18"/>
          <p:cNvSpPr txBox="1"/>
          <p:nvPr>
            <p:ph idx="1" type="body"/>
          </p:nvPr>
        </p:nvSpPr>
        <p:spPr>
          <a:xfrm>
            <a:off x="-157925" y="1689200"/>
            <a:ext cx="3326100" cy="3416400"/>
          </a:xfrm>
          <a:prstGeom prst="rect">
            <a:avLst/>
          </a:prstGeom>
        </p:spPr>
        <p:txBody>
          <a:bodyPr anchorCtr="0" anchor="t" bIns="91425" lIns="91425" spcFirstLastPara="1" rIns="91425" wrap="square" tIns="91425">
            <a:normAutofit/>
          </a:bodyPr>
          <a:lstStyle/>
          <a:p>
            <a:pPr indent="457200" lvl="0" marL="0" rtl="0" algn="ctr">
              <a:spcBef>
                <a:spcPts val="1200"/>
              </a:spcBef>
              <a:spcAft>
                <a:spcPts val="0"/>
              </a:spcAft>
              <a:buClr>
                <a:schemeClr val="dk2"/>
              </a:buClr>
              <a:buSzPts val="1100"/>
              <a:buFont typeface="Arial"/>
              <a:buNone/>
            </a:pPr>
            <a:r>
              <a:rPr b="1" lang="es" sz="1100">
                <a:solidFill>
                  <a:schemeClr val="dk2"/>
                </a:solidFill>
                <a:latin typeface="Arial"/>
                <a:ea typeface="Arial"/>
                <a:cs typeface="Arial"/>
                <a:sym typeface="Arial"/>
              </a:rPr>
              <a:t> Validación General del Esquema y Datos</a:t>
            </a:r>
            <a:endParaRPr sz="1100">
              <a:solidFill>
                <a:schemeClr val="dk2"/>
              </a:solidFill>
              <a:latin typeface="Arial"/>
              <a:ea typeface="Arial"/>
              <a:cs typeface="Arial"/>
              <a:sym typeface="Arial"/>
            </a:endParaRPr>
          </a:p>
          <a:p>
            <a:pPr indent="0" lvl="0" marL="914400" rtl="0" algn="l">
              <a:spcBef>
                <a:spcPts val="1200"/>
              </a:spcBef>
              <a:spcAft>
                <a:spcPts val="0"/>
              </a:spcAft>
              <a:buNone/>
            </a:pPr>
            <a:r>
              <a:rPr lang="es" sz="1100">
                <a:solidFill>
                  <a:schemeClr val="dk2"/>
                </a:solidFill>
                <a:latin typeface="Arial"/>
                <a:ea typeface="Arial"/>
                <a:cs typeface="Arial"/>
                <a:sym typeface="Arial"/>
              </a:rPr>
              <a:t>Se ejecutó una consulta de selección total para verificar que todas las columnas y registros aterrizaron correctamente en el Data Warehouse, validando la integridad del esquema (fechas, distancias y conteo de pasajeros).</a:t>
            </a:r>
            <a:endParaRPr sz="1100">
              <a:solidFill>
                <a:schemeClr val="dk2"/>
              </a:solidFill>
              <a:latin typeface="Arial"/>
              <a:ea typeface="Arial"/>
              <a:cs typeface="Arial"/>
              <a:sym typeface="Arial"/>
            </a:endParaRPr>
          </a:p>
          <a:p>
            <a:pPr indent="457200" lvl="0" marL="914400" rtl="0" algn="l">
              <a:spcBef>
                <a:spcPts val="1200"/>
              </a:spcBef>
              <a:spcAft>
                <a:spcPts val="400"/>
              </a:spcAft>
              <a:buClr>
                <a:srgbClr val="000000"/>
              </a:buClr>
              <a:buSzPts val="1100"/>
              <a:buFont typeface="Arial"/>
              <a:buNone/>
            </a:pPr>
            <a:r>
              <a:rPr lang="es" sz="1100">
                <a:solidFill>
                  <a:schemeClr val="dk2"/>
                </a:solidFill>
                <a:latin typeface="Arial"/>
                <a:ea typeface="Arial"/>
                <a:cs typeface="Arial"/>
                <a:sym typeface="Arial"/>
              </a:rPr>
              <a:t>select * from `Dataprep.taxis_limpios`</a:t>
            </a:r>
            <a:endParaRPr/>
          </a:p>
        </p:txBody>
      </p:sp>
      <p:pic>
        <p:nvPicPr>
          <p:cNvPr id="94" name="Google Shape;94;p18"/>
          <p:cNvPicPr preferRelativeResize="0"/>
          <p:nvPr/>
        </p:nvPicPr>
        <p:blipFill>
          <a:blip r:embed="rId3">
            <a:alphaModFix/>
          </a:blip>
          <a:stretch>
            <a:fillRect/>
          </a:stretch>
        </p:blipFill>
        <p:spPr>
          <a:xfrm>
            <a:off x="3320500" y="1152475"/>
            <a:ext cx="5734050" cy="3543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None/>
            </a:pPr>
            <a:r>
              <a:rPr lang="es" sz="2400">
                <a:latin typeface="Arial"/>
                <a:ea typeface="Arial"/>
                <a:cs typeface="Arial"/>
                <a:sym typeface="Arial"/>
              </a:rPr>
              <a:t>Aislamiento de Identificadores de Proveedor</a:t>
            </a:r>
            <a:endParaRPr sz="4300"/>
          </a:p>
        </p:txBody>
      </p:sp>
      <p:sp>
        <p:nvSpPr>
          <p:cNvPr id="100" name="Google Shape;100;p19"/>
          <p:cNvSpPr txBox="1"/>
          <p:nvPr>
            <p:ph idx="1" type="body"/>
          </p:nvPr>
        </p:nvSpPr>
        <p:spPr>
          <a:xfrm>
            <a:off x="-172850" y="1197200"/>
            <a:ext cx="2968200" cy="3416400"/>
          </a:xfrm>
          <a:prstGeom prst="rect">
            <a:avLst/>
          </a:prstGeom>
        </p:spPr>
        <p:txBody>
          <a:bodyPr anchorCtr="0" anchor="t" bIns="91425" lIns="91425" spcFirstLastPara="1" rIns="91425" wrap="square" tIns="91425">
            <a:normAutofit/>
          </a:bodyPr>
          <a:lstStyle/>
          <a:p>
            <a:pPr indent="0" lvl="0" marL="914400" rtl="0" algn="ctr">
              <a:spcBef>
                <a:spcPts val="1200"/>
              </a:spcBef>
              <a:spcAft>
                <a:spcPts val="0"/>
              </a:spcAft>
              <a:buClr>
                <a:schemeClr val="dk2"/>
              </a:buClr>
              <a:buSzPts val="1100"/>
              <a:buFont typeface="Arial"/>
              <a:buNone/>
            </a:pPr>
            <a:r>
              <a:rPr lang="es" sz="1100">
                <a:solidFill>
                  <a:schemeClr val="dk2"/>
                </a:solidFill>
                <a:latin typeface="Arial"/>
                <a:ea typeface="Arial"/>
                <a:cs typeface="Arial"/>
                <a:sym typeface="Arial"/>
              </a:rPr>
              <a:t>Esta consulta extrae únicamente la columna del identificador del proveedor (</a:t>
            </a:r>
            <a:r>
              <a:rPr lang="es" sz="1100">
                <a:solidFill>
                  <a:srgbClr val="188038"/>
                </a:solidFill>
                <a:latin typeface="Roboto Mono"/>
                <a:ea typeface="Roboto Mono"/>
                <a:cs typeface="Roboto Mono"/>
                <a:sym typeface="Roboto Mono"/>
              </a:rPr>
              <a:t>VendorID</a:t>
            </a:r>
            <a:r>
              <a:rPr lang="es" sz="1100">
                <a:solidFill>
                  <a:schemeClr val="dk2"/>
                </a:solidFill>
                <a:latin typeface="Arial"/>
                <a:ea typeface="Arial"/>
                <a:cs typeface="Arial"/>
                <a:sym typeface="Arial"/>
              </a:rPr>
              <a:t>). Sirve para auditar que los datos categóricos se hayan cargado correctamente y verificar qué empresas operaron los viajes registrados.</a:t>
            </a:r>
            <a:endParaRPr sz="1100">
              <a:solidFill>
                <a:schemeClr val="dk2"/>
              </a:solidFill>
              <a:latin typeface="Arial"/>
              <a:ea typeface="Arial"/>
              <a:cs typeface="Arial"/>
              <a:sym typeface="Arial"/>
            </a:endParaRPr>
          </a:p>
          <a:p>
            <a:pPr indent="457200" lvl="0" marL="914400" rtl="0" algn="ctr">
              <a:spcBef>
                <a:spcPts val="1200"/>
              </a:spcBef>
              <a:spcAft>
                <a:spcPts val="0"/>
              </a:spcAft>
              <a:buClr>
                <a:schemeClr val="dk2"/>
              </a:buClr>
              <a:buSzPts val="1100"/>
              <a:buFont typeface="Arial"/>
              <a:buNone/>
            </a:pPr>
            <a:r>
              <a:rPr lang="es" sz="1100">
                <a:solidFill>
                  <a:schemeClr val="dk2"/>
                </a:solidFill>
                <a:latin typeface="Arial"/>
                <a:ea typeface="Arial"/>
                <a:cs typeface="Arial"/>
                <a:sym typeface="Arial"/>
              </a:rPr>
              <a:t>select VendorID from `Dataprep.taxis_limpios`</a:t>
            </a:r>
            <a:endParaRPr/>
          </a:p>
        </p:txBody>
      </p:sp>
      <p:pic>
        <p:nvPicPr>
          <p:cNvPr id="101" name="Google Shape;101;p19"/>
          <p:cNvPicPr preferRelativeResize="0"/>
          <p:nvPr/>
        </p:nvPicPr>
        <p:blipFill>
          <a:blip r:embed="rId3">
            <a:alphaModFix/>
          </a:blip>
          <a:stretch>
            <a:fillRect/>
          </a:stretch>
        </p:blipFill>
        <p:spPr>
          <a:xfrm>
            <a:off x="3037250" y="1119463"/>
            <a:ext cx="5734050" cy="3571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p>
            <a:pPr indent="457200" lvl="0" marL="0" rtl="0" algn="l">
              <a:lnSpc>
                <a:spcPct val="115000"/>
              </a:lnSpc>
              <a:spcBef>
                <a:spcPts val="1200"/>
              </a:spcBef>
              <a:spcAft>
                <a:spcPts val="200"/>
              </a:spcAft>
              <a:buNone/>
            </a:pPr>
            <a:r>
              <a:rPr lang="es" sz="2000">
                <a:latin typeface="Arial"/>
                <a:ea typeface="Arial"/>
                <a:cs typeface="Arial"/>
                <a:sym typeface="Arial"/>
              </a:rPr>
              <a:t>Auditoría Financiera de Tarifas (Detección de Anomalías)</a:t>
            </a:r>
            <a:endParaRPr sz="2500"/>
          </a:p>
        </p:txBody>
      </p:sp>
      <p:sp>
        <p:nvSpPr>
          <p:cNvPr id="107" name="Google Shape;107;p20"/>
          <p:cNvSpPr txBox="1"/>
          <p:nvPr>
            <p:ph idx="1" type="body"/>
          </p:nvPr>
        </p:nvSpPr>
        <p:spPr>
          <a:xfrm>
            <a:off x="-545550" y="1353725"/>
            <a:ext cx="3669000" cy="3416400"/>
          </a:xfrm>
          <a:prstGeom prst="rect">
            <a:avLst/>
          </a:prstGeom>
        </p:spPr>
        <p:txBody>
          <a:bodyPr anchorCtr="0" anchor="t" bIns="91425" lIns="91425" spcFirstLastPara="1" rIns="91425" wrap="square" tIns="91425">
            <a:normAutofit/>
          </a:bodyPr>
          <a:lstStyle/>
          <a:p>
            <a:pPr indent="0" lvl="0" marL="914400" rtl="0" algn="ctr">
              <a:spcBef>
                <a:spcPts val="1200"/>
              </a:spcBef>
              <a:spcAft>
                <a:spcPts val="0"/>
              </a:spcAft>
              <a:buClr>
                <a:schemeClr val="dk2"/>
              </a:buClr>
              <a:buSzPts val="1100"/>
              <a:buFont typeface="Arial"/>
              <a:buNone/>
            </a:pPr>
            <a:r>
              <a:rPr lang="es" sz="1100">
                <a:solidFill>
                  <a:schemeClr val="dk2"/>
                </a:solidFill>
                <a:latin typeface="Arial"/>
                <a:ea typeface="Arial"/>
                <a:cs typeface="Arial"/>
                <a:sym typeface="Arial"/>
              </a:rPr>
              <a:t>Se aisló la columna de tarifas base (</a:t>
            </a:r>
            <a:r>
              <a:rPr lang="es" sz="1100">
                <a:solidFill>
                  <a:srgbClr val="188038"/>
                </a:solidFill>
                <a:latin typeface="Roboto Mono"/>
                <a:ea typeface="Roboto Mono"/>
                <a:cs typeface="Roboto Mono"/>
                <a:sym typeface="Roboto Mono"/>
              </a:rPr>
              <a:t>fare_amount</a:t>
            </a:r>
            <a:r>
              <a:rPr lang="es" sz="1100">
                <a:solidFill>
                  <a:schemeClr val="dk2"/>
                </a:solidFill>
                <a:latin typeface="Arial"/>
                <a:ea typeface="Arial"/>
                <a:cs typeface="Arial"/>
                <a:sym typeface="Arial"/>
              </a:rPr>
              <a:t>) para revisar la distribución de los cobros. Como se evidencia en los resultados de la consulta, existen registros con </a:t>
            </a:r>
            <a:r>
              <a:rPr b="1" lang="es" sz="1100">
                <a:solidFill>
                  <a:schemeClr val="dk2"/>
                </a:solidFill>
                <a:latin typeface="Arial"/>
                <a:ea typeface="Arial"/>
                <a:cs typeface="Arial"/>
                <a:sym typeface="Arial"/>
              </a:rPr>
              <a:t>valores negativos</a:t>
            </a:r>
            <a:r>
              <a:rPr lang="es" sz="1100">
                <a:solidFill>
                  <a:schemeClr val="dk2"/>
                </a:solidFill>
                <a:latin typeface="Arial"/>
                <a:ea typeface="Arial"/>
                <a:cs typeface="Arial"/>
                <a:sym typeface="Arial"/>
              </a:rPr>
              <a:t> (ej. -133.2, -67.8), lo cual representa una anomalía operativa crítica que demuestra la necesidad de aplicar filtros de limpieza en el flujo de trabajo.</a:t>
            </a:r>
            <a:endParaRPr sz="1100">
              <a:solidFill>
                <a:schemeClr val="dk2"/>
              </a:solidFill>
              <a:latin typeface="Arial"/>
              <a:ea typeface="Arial"/>
              <a:cs typeface="Arial"/>
              <a:sym typeface="Arial"/>
            </a:endParaRPr>
          </a:p>
          <a:p>
            <a:pPr indent="457200" lvl="0" marL="914400" rtl="0" algn="ctr">
              <a:spcBef>
                <a:spcPts val="1200"/>
              </a:spcBef>
              <a:spcAft>
                <a:spcPts val="0"/>
              </a:spcAft>
              <a:buClr>
                <a:schemeClr val="dk2"/>
              </a:buClr>
              <a:buSzPts val="1100"/>
              <a:buFont typeface="Arial"/>
              <a:buNone/>
            </a:pPr>
            <a:r>
              <a:rPr lang="es" sz="1100">
                <a:solidFill>
                  <a:schemeClr val="dk2"/>
                </a:solidFill>
                <a:latin typeface="Arial"/>
                <a:ea typeface="Arial"/>
                <a:cs typeface="Arial"/>
                <a:sym typeface="Arial"/>
              </a:rPr>
              <a:t>select fare_amount from `Dataprep.taxis_limpios`</a:t>
            </a:r>
            <a:endParaRPr/>
          </a:p>
        </p:txBody>
      </p:sp>
      <p:pic>
        <p:nvPicPr>
          <p:cNvPr id="108" name="Google Shape;108;p20"/>
          <p:cNvPicPr preferRelativeResize="0"/>
          <p:nvPr/>
        </p:nvPicPr>
        <p:blipFill>
          <a:blip r:embed="rId3">
            <a:alphaModFix/>
          </a:blip>
          <a:stretch>
            <a:fillRect/>
          </a:stretch>
        </p:blipFill>
        <p:spPr>
          <a:xfrm>
            <a:off x="3259876" y="1160775"/>
            <a:ext cx="5469874" cy="341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p>
            <a:pPr indent="457200" lvl="0" marL="0" rtl="0" algn="l">
              <a:lnSpc>
                <a:spcPct val="115000"/>
              </a:lnSpc>
              <a:spcBef>
                <a:spcPts val="1200"/>
              </a:spcBef>
              <a:spcAft>
                <a:spcPts val="200"/>
              </a:spcAft>
              <a:buNone/>
            </a:pPr>
            <a:r>
              <a:rPr lang="es" sz="2000">
                <a:latin typeface="Arial"/>
                <a:ea typeface="Arial"/>
                <a:cs typeface="Arial"/>
                <a:sym typeface="Arial"/>
              </a:rPr>
              <a:t>Revisión de Cargos Adicionales (Tarifa de Aeropuerto)</a:t>
            </a:r>
            <a:endParaRPr sz="2000">
              <a:latin typeface="Arial"/>
              <a:ea typeface="Arial"/>
              <a:cs typeface="Arial"/>
              <a:sym typeface="Arial"/>
            </a:endParaRPr>
          </a:p>
        </p:txBody>
      </p:sp>
      <p:sp>
        <p:nvSpPr>
          <p:cNvPr id="114" name="Google Shape;114;p21"/>
          <p:cNvSpPr txBox="1"/>
          <p:nvPr>
            <p:ph idx="1" type="body"/>
          </p:nvPr>
        </p:nvSpPr>
        <p:spPr>
          <a:xfrm>
            <a:off x="-411375" y="1331375"/>
            <a:ext cx="3117300" cy="3416400"/>
          </a:xfrm>
          <a:prstGeom prst="rect">
            <a:avLst/>
          </a:prstGeom>
        </p:spPr>
        <p:txBody>
          <a:bodyPr anchorCtr="0" anchor="ctr" bIns="91425" lIns="91425" spcFirstLastPara="1" rIns="91425" wrap="square" tIns="91425">
            <a:normAutofit/>
          </a:bodyPr>
          <a:lstStyle/>
          <a:p>
            <a:pPr indent="0" lvl="0" marL="914400" rtl="0" algn="ctr">
              <a:spcBef>
                <a:spcPts val="1200"/>
              </a:spcBef>
              <a:spcAft>
                <a:spcPts val="0"/>
              </a:spcAft>
              <a:buClr>
                <a:schemeClr val="dk2"/>
              </a:buClr>
              <a:buSzPts val="1100"/>
              <a:buFont typeface="Arial"/>
              <a:buNone/>
            </a:pPr>
            <a:r>
              <a:rPr lang="es" sz="1100">
                <a:solidFill>
                  <a:schemeClr val="dk2"/>
                </a:solidFill>
                <a:latin typeface="Arial"/>
                <a:ea typeface="Arial"/>
                <a:cs typeface="Arial"/>
                <a:sym typeface="Arial"/>
              </a:rPr>
              <a:t>Finalmente, se consultó de forma específica la columna de cobros por aeropuerto (</a:t>
            </a:r>
            <a:r>
              <a:rPr lang="es" sz="1100">
                <a:solidFill>
                  <a:srgbClr val="188038"/>
                </a:solidFill>
                <a:latin typeface="Roboto Mono"/>
                <a:ea typeface="Roboto Mono"/>
                <a:cs typeface="Roboto Mono"/>
                <a:sym typeface="Roboto Mono"/>
              </a:rPr>
              <a:t>Airport_fee</a:t>
            </a:r>
            <a:r>
              <a:rPr lang="es" sz="1100">
                <a:solidFill>
                  <a:schemeClr val="dk2"/>
                </a:solidFill>
                <a:latin typeface="Arial"/>
                <a:ea typeface="Arial"/>
                <a:cs typeface="Arial"/>
                <a:sym typeface="Arial"/>
              </a:rPr>
              <a:t>). Al igual que en la consulta anterior, esta revisión permite detectar inconsistencias en los recargos (valores en negativo), confirmando la presencia de "datos sucios" provenientes del archivo crudo.</a:t>
            </a:r>
            <a:endParaRPr sz="1100">
              <a:solidFill>
                <a:schemeClr val="dk2"/>
              </a:solidFill>
              <a:latin typeface="Arial"/>
              <a:ea typeface="Arial"/>
              <a:cs typeface="Arial"/>
              <a:sym typeface="Arial"/>
            </a:endParaRPr>
          </a:p>
          <a:p>
            <a:pPr indent="457200" lvl="0" marL="914400" rtl="0" algn="ctr">
              <a:spcBef>
                <a:spcPts val="1200"/>
              </a:spcBef>
              <a:spcAft>
                <a:spcPts val="0"/>
              </a:spcAft>
              <a:buClr>
                <a:schemeClr val="dk2"/>
              </a:buClr>
              <a:buSzPts val="1100"/>
              <a:buFont typeface="Arial"/>
              <a:buNone/>
            </a:pPr>
            <a:r>
              <a:rPr lang="es" sz="1100">
                <a:solidFill>
                  <a:schemeClr val="dk2"/>
                </a:solidFill>
                <a:latin typeface="Arial"/>
                <a:ea typeface="Arial"/>
                <a:cs typeface="Arial"/>
                <a:sym typeface="Arial"/>
              </a:rPr>
              <a:t>select Airport_fee from `Dataprep.taxis_limpios`</a:t>
            </a:r>
            <a:endParaRPr sz="1100">
              <a:solidFill>
                <a:schemeClr val="dk2"/>
              </a:solidFill>
              <a:latin typeface="Arial"/>
              <a:ea typeface="Arial"/>
              <a:cs typeface="Arial"/>
              <a:sym typeface="Arial"/>
            </a:endParaRPr>
          </a:p>
          <a:p>
            <a:pPr indent="0" lvl="0" marL="0" rtl="0" algn="ctr">
              <a:spcBef>
                <a:spcPts val="0"/>
              </a:spcBef>
              <a:spcAft>
                <a:spcPts val="1200"/>
              </a:spcAft>
              <a:buNone/>
            </a:pPr>
            <a:r>
              <a:t/>
            </a:r>
            <a:endParaRPr/>
          </a:p>
        </p:txBody>
      </p:sp>
      <p:pic>
        <p:nvPicPr>
          <p:cNvPr id="115" name="Google Shape;115;p21"/>
          <p:cNvPicPr preferRelativeResize="0"/>
          <p:nvPr/>
        </p:nvPicPr>
        <p:blipFill>
          <a:blip r:embed="rId3">
            <a:alphaModFix/>
          </a:blip>
          <a:stretch>
            <a:fillRect/>
          </a:stretch>
        </p:blipFill>
        <p:spPr>
          <a:xfrm>
            <a:off x="2912625" y="1117225"/>
            <a:ext cx="5734050" cy="3581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226550" y="40245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GRAFICOS Y CONSCLUSION</a:t>
            </a:r>
            <a:endParaRPr/>
          </a:p>
        </p:txBody>
      </p:sp>
      <p:sp>
        <p:nvSpPr>
          <p:cNvPr id="121" name="Google Shape;121;p22"/>
          <p:cNvSpPr txBox="1"/>
          <p:nvPr>
            <p:ph idx="1" type="body"/>
          </p:nvPr>
        </p:nvSpPr>
        <p:spPr>
          <a:xfrm>
            <a:off x="5825625" y="1152475"/>
            <a:ext cx="3006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2"/>
              </a:buClr>
              <a:buSzPts val="1100"/>
              <a:buFont typeface="Arial"/>
              <a:buNone/>
            </a:pPr>
            <a:r>
              <a:rPr lang="es" sz="1100">
                <a:solidFill>
                  <a:schemeClr val="dk2"/>
                </a:solidFill>
                <a:latin typeface="Arial"/>
                <a:ea typeface="Arial"/>
                <a:cs typeface="Arial"/>
                <a:sym typeface="Arial"/>
              </a:rPr>
              <a:t>La implementación de este pipeline Batch en Google Cloud Platform demostró ser una solución eficaz para procesar masivamente registros de transporte. Se logró una ingesta automatizada mediante Cloud Scheduler, Pub/Sub y Cloud Run (vía Docker) hacia Cloud Storage. Posteriormente, Cloud Dataprep fue vital para limpiar anomalías críticas del archivo original, permitiendo alojar los datos normalizados en BigQuery. Esto facilitó su auditoría mediante SQL y conexión directa con Power BI, transformando exitosamente datos crudos en conocimiento estratégico para optimizar el negocio. </a:t>
            </a:r>
            <a:endParaRPr sz="1100">
              <a:solidFill>
                <a:schemeClr val="dk2"/>
              </a:solidFill>
              <a:latin typeface="Arial"/>
              <a:ea typeface="Arial"/>
              <a:cs typeface="Arial"/>
              <a:sym typeface="Arial"/>
            </a:endParaRPr>
          </a:p>
          <a:p>
            <a:pPr indent="0" lvl="0" marL="0" rtl="0" algn="l">
              <a:spcBef>
                <a:spcPts val="1200"/>
              </a:spcBef>
              <a:spcAft>
                <a:spcPts val="1200"/>
              </a:spcAft>
              <a:buNone/>
            </a:pPr>
            <a:r>
              <a:t/>
            </a:r>
            <a:endParaRPr/>
          </a:p>
        </p:txBody>
      </p:sp>
      <p:pic>
        <p:nvPicPr>
          <p:cNvPr id="122" name="Google Shape;122;p22"/>
          <p:cNvPicPr preferRelativeResize="0"/>
          <p:nvPr/>
        </p:nvPicPr>
        <p:blipFill>
          <a:blip r:embed="rId3">
            <a:alphaModFix/>
          </a:blip>
          <a:stretch>
            <a:fillRect/>
          </a:stretch>
        </p:blipFill>
        <p:spPr>
          <a:xfrm>
            <a:off x="0" y="1246175"/>
            <a:ext cx="5734050" cy="3228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